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250A2B-DF08-287F-95AB-BB41B5FC93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Bases de datos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240825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5C7675-3DCD-EB0E-F119-07DC20A1F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Bases de datos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EFB7A51-52B1-E4EC-8A2A-49B7900E2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b="1" dirty="0"/>
              <a:t>Un sistema gestor de bases de datos (SGBD) consiste en una colección de datos interrelacionados y un conjunto de programas para acceder a dichos datos. La colección de datos, normalmente denominada base de datos, contiene información relevante para una empresa. El objetivo principal de un SGBD es proporcionar una forma de almacenar y recuperar la información de una base de datos de manera que sea tanto práctica como eficiente.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53756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306C91-48A8-C0F4-A2DA-14793F2D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Aplicaciones de los sistemas de bases de datos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F978FD0-CA80-DB1C-3F1E-1B1E4BF72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B</a:t>
            </a:r>
            <a:r>
              <a:rPr lang="es-ES" b="1" dirty="0"/>
              <a:t>anca: </a:t>
            </a:r>
            <a:r>
              <a:rPr lang="es-ES" dirty="0"/>
              <a:t>para información de los clientes, cuentas, préstamos y transacciones bancarias.</a:t>
            </a:r>
          </a:p>
          <a:p>
            <a:r>
              <a:rPr lang="es-ES" dirty="0"/>
              <a:t> </a:t>
            </a:r>
            <a:r>
              <a:rPr lang="es-ES" b="1" dirty="0"/>
              <a:t>Líneas aéreas</a:t>
            </a:r>
            <a:r>
              <a:rPr lang="es-ES" dirty="0"/>
              <a:t>: para reservas e información de horarios. Las líneas aéreas fueron de las primeras en</a:t>
            </a:r>
          </a:p>
          <a:p>
            <a:r>
              <a:rPr lang="es-ES" dirty="0"/>
              <a:t>usar las bases de datos de forma distribuida geográficamente.</a:t>
            </a:r>
          </a:p>
          <a:p>
            <a:r>
              <a:rPr lang="es-ES" dirty="0"/>
              <a:t> </a:t>
            </a:r>
            <a:r>
              <a:rPr lang="es-ES" b="1" dirty="0"/>
              <a:t>Universidade</a:t>
            </a:r>
            <a:r>
              <a:rPr lang="es-ES" dirty="0"/>
              <a:t>s: para información de los estudiantes, matrículas en las asignaturas y cursos.</a:t>
            </a:r>
          </a:p>
          <a:p>
            <a:r>
              <a:rPr lang="es-ES" dirty="0"/>
              <a:t> </a:t>
            </a:r>
            <a:r>
              <a:rPr lang="es-ES" b="1" dirty="0"/>
              <a:t>Transacciones de tarjetas de crédito</a:t>
            </a:r>
            <a:r>
              <a:rPr lang="es-ES" dirty="0"/>
              <a:t>: para compras con tarjeta de crédito y la generación de los ex-</a:t>
            </a:r>
          </a:p>
          <a:p>
            <a:r>
              <a:rPr lang="es-ES" dirty="0"/>
              <a:t>tractos mensuales.</a:t>
            </a:r>
          </a:p>
          <a:p>
            <a:r>
              <a:rPr lang="es-ES" dirty="0"/>
              <a:t> </a:t>
            </a:r>
            <a:r>
              <a:rPr lang="es-ES" b="1" dirty="0"/>
              <a:t>Telecomunicaciones</a:t>
            </a:r>
            <a:r>
              <a:rPr lang="es-ES" dirty="0"/>
              <a:t>: para guardar un registro de las llamadas realizadas, generar las facturas </a:t>
            </a:r>
            <a:r>
              <a:rPr lang="es-ES" dirty="0" err="1"/>
              <a:t>men</a:t>
            </a:r>
            <a:r>
              <a:rPr lang="es-ES" dirty="0"/>
              <a:t>-</a:t>
            </a:r>
          </a:p>
          <a:p>
            <a:r>
              <a:rPr lang="es-ES" dirty="0" err="1"/>
              <a:t>suales</a:t>
            </a:r>
            <a:r>
              <a:rPr lang="es-ES" dirty="0"/>
              <a:t>, mantener el saldo de las tarjetas telefónicas de prepago y para almacenar información</a:t>
            </a:r>
          </a:p>
          <a:p>
            <a:r>
              <a:rPr lang="es-ES" dirty="0"/>
              <a:t>sobre las redes de comunicaciones.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3871649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BD06A8-B0D0-5540-0586-33B99B164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Bases de datos relacionales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9465E36-4DBA-1A2B-1A66-EE6808881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Las bases de datos relacionales se basan en el modelo relacional y usan un conjunto de tablas para representar tanto los datos como las relaciones entre ellos. También incluyen un LMD y un LDD. </a:t>
            </a:r>
          </a:p>
          <a:p>
            <a:pPr marL="0" indent="0">
              <a:buNone/>
            </a:pPr>
            <a:r>
              <a:rPr lang="es-ES" dirty="0" err="1"/>
              <a:t>Lamayor</a:t>
            </a:r>
            <a:r>
              <a:rPr lang="es-ES" dirty="0"/>
              <a:t> parte de los sistemas de bases de datos relacionales comerciales emplean el lenguaje SQL, que se trata en este apartado y que se tratará con gran detalle en los Capítulos 3 y 4. En el Capítulo 5 se estudiarán otros lenguajes influyentes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727594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92D436-1732-FC30-2AFF-C6153B296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VE" dirty="0"/>
              <a:t>Tablas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18B443-4241-56D7-3484-2750FCE31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dirty="0"/>
              <a:t>Cada tabla tiene varias columnas, y cada columna tiene un nombre único. En la Figura se presenta un ejemplo de base de datos relacional consistente en tres tablas: una muestra detalles de los clientes de un banco, la segunda muestra las cuentas y la tercera muestra las cuentas que pertenecen a cada cliente.</a:t>
            </a:r>
            <a:endParaRPr lang="es-V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D280C7-BA5B-BD15-9BBC-EE9ACB916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01" y="4645625"/>
            <a:ext cx="3924848" cy="144800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1A1DA0E-F9F9-B9DF-1C8E-D40C0980B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952" y="4742104"/>
            <a:ext cx="1752845" cy="14765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62D608B2-BB95-A5F6-F51E-4EFA077EF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900" y="4622052"/>
            <a:ext cx="1914792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43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9C44BF-4098-B42B-09B8-51845E446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63" y="764373"/>
            <a:ext cx="10663237" cy="1293028"/>
          </a:xfrm>
        </p:spPr>
        <p:txBody>
          <a:bodyPr/>
          <a:lstStyle/>
          <a:p>
            <a:r>
              <a:rPr lang="es-ES" dirty="0"/>
              <a:t> Lenguaje de manipulación de datos</a:t>
            </a: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C8CEA-7CF1-10BA-CC60-9F168C3CE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28813"/>
            <a:ext cx="10820400" cy="428987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s-ES" u="sng"/>
              <a:t>El</a:t>
            </a:r>
            <a:r>
              <a:rPr lang="es-ES"/>
              <a:t> </a:t>
            </a:r>
            <a:r>
              <a:rPr lang="es-ES" dirty="0"/>
              <a:t>lenguaje de consultas de SQL no es procedimental. Usa como entrada varias tablas (posiblemente sólo</a:t>
            </a:r>
          </a:p>
          <a:p>
            <a:pPr marL="0" indent="0">
              <a:buNone/>
            </a:pPr>
            <a:r>
              <a:rPr lang="es-ES" dirty="0"/>
              <a:t>una) y devuelve siempre una sola tabla. A continuación se ofrece un ejemplo de consulta SQL que halla</a:t>
            </a:r>
          </a:p>
          <a:p>
            <a:pPr marL="0" indent="0">
              <a:buNone/>
            </a:pPr>
            <a:r>
              <a:rPr lang="es-ES" dirty="0"/>
              <a:t>el nombre de todos los clientes que residen en </a:t>
            </a:r>
            <a:r>
              <a:rPr lang="es-ES" dirty="0" err="1"/>
              <a:t>Peguerinos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b="1" dirty="0" err="1"/>
              <a:t>select</a:t>
            </a:r>
            <a:r>
              <a:rPr lang="es-ES" b="1" dirty="0"/>
              <a:t> </a:t>
            </a:r>
            <a:r>
              <a:rPr lang="es-ES" b="1" dirty="0" err="1"/>
              <a:t>cliente.nombre_cliente</a:t>
            </a:r>
            <a:endParaRPr lang="es-ES" b="1" dirty="0"/>
          </a:p>
          <a:p>
            <a:pPr marL="0" indent="0">
              <a:buNone/>
            </a:pPr>
            <a:r>
              <a:rPr lang="es-ES" b="1" dirty="0" err="1"/>
              <a:t>from</a:t>
            </a:r>
            <a:r>
              <a:rPr lang="es-ES" b="1" dirty="0"/>
              <a:t> cliente</a:t>
            </a:r>
          </a:p>
          <a:p>
            <a:pPr marL="0" indent="0">
              <a:buNone/>
            </a:pPr>
            <a:r>
              <a:rPr lang="es-ES" b="1" dirty="0" err="1"/>
              <a:t>where</a:t>
            </a:r>
            <a:r>
              <a:rPr lang="es-ES" b="1" dirty="0"/>
              <a:t> </a:t>
            </a:r>
            <a:r>
              <a:rPr lang="es-ES" b="1" dirty="0" err="1"/>
              <a:t>cliente.ciudad_cliente</a:t>
            </a:r>
            <a:r>
              <a:rPr lang="es-ES" b="1" dirty="0"/>
              <a:t> = ’</a:t>
            </a:r>
            <a:r>
              <a:rPr lang="es-ES" b="1" dirty="0" err="1"/>
              <a:t>Peguerinos</a:t>
            </a:r>
            <a:r>
              <a:rPr lang="es-ES" b="1" dirty="0"/>
              <a:t>’</a:t>
            </a:r>
          </a:p>
          <a:p>
            <a:pPr marL="0" indent="0">
              <a:buNone/>
            </a:pPr>
            <a:r>
              <a:rPr lang="es-ES" dirty="0"/>
              <a:t>La consulta especifica que hay que recuperar (</a:t>
            </a:r>
            <a:r>
              <a:rPr lang="es-ES" dirty="0" err="1"/>
              <a:t>select</a:t>
            </a:r>
            <a:r>
              <a:rPr lang="es-ES" dirty="0"/>
              <a:t>) las filas de (</a:t>
            </a:r>
            <a:r>
              <a:rPr lang="es-ES" dirty="0" err="1"/>
              <a:t>from</a:t>
            </a:r>
            <a:r>
              <a:rPr lang="es-ES" dirty="0"/>
              <a:t>) la tabla cliente en las que (</a:t>
            </a:r>
            <a:r>
              <a:rPr lang="es-ES" dirty="0" err="1"/>
              <a:t>where</a:t>
            </a:r>
            <a:r>
              <a:rPr lang="es-ES" dirty="0"/>
              <a:t>)</a:t>
            </a:r>
          </a:p>
          <a:p>
            <a:pPr marL="0" indent="0">
              <a:buNone/>
            </a:pPr>
            <a:r>
              <a:rPr lang="es-ES" dirty="0"/>
              <a:t>la </a:t>
            </a:r>
            <a:r>
              <a:rPr lang="es-ES" dirty="0" err="1"/>
              <a:t>ciudad_cliente</a:t>
            </a:r>
            <a:r>
              <a:rPr lang="es-ES" dirty="0"/>
              <a:t> es </a:t>
            </a:r>
            <a:r>
              <a:rPr lang="es-ES" dirty="0" err="1"/>
              <a:t>Peguerinos</a:t>
            </a:r>
            <a:r>
              <a:rPr lang="es-ES" dirty="0"/>
              <a:t>, y que sólo debe mostrarse el atributo </a:t>
            </a:r>
            <a:r>
              <a:rPr lang="es-ES" dirty="0" err="1"/>
              <a:t>nombre_cliente</a:t>
            </a:r>
            <a:r>
              <a:rPr lang="es-ES" dirty="0"/>
              <a:t> de esas filas. Más</a:t>
            </a:r>
          </a:p>
          <a:p>
            <a:pPr marL="0" indent="0">
              <a:buNone/>
            </a:pPr>
            <a:r>
              <a:rPr lang="es-ES" dirty="0"/>
              <a:t>concretamente, el resultado de la ejecución de esta consulta es una tabla con una sola columna </a:t>
            </a:r>
            <a:r>
              <a:rPr lang="es-ES" dirty="0" err="1"/>
              <a:t>denomi</a:t>
            </a:r>
            <a:r>
              <a:rPr lang="es-ES" dirty="0"/>
              <a:t>-</a:t>
            </a:r>
          </a:p>
          <a:p>
            <a:pPr marL="0" indent="0">
              <a:buNone/>
            </a:pPr>
            <a:r>
              <a:rPr lang="es-ES" dirty="0"/>
              <a:t>nada </a:t>
            </a:r>
            <a:r>
              <a:rPr lang="es-ES" dirty="0" err="1"/>
              <a:t>nombre_cliente</a:t>
            </a:r>
            <a:r>
              <a:rPr lang="es-ES" dirty="0"/>
              <a:t> y un conjunto de filas, cada una de las cuales contiene el nombre de un cliente cuya</a:t>
            </a:r>
          </a:p>
          <a:p>
            <a:pPr marL="0" indent="0">
              <a:buNone/>
            </a:pPr>
            <a:r>
              <a:rPr lang="es-ES" dirty="0" err="1"/>
              <a:t>ciudad_cliente</a:t>
            </a:r>
            <a:r>
              <a:rPr lang="es-ES" dirty="0"/>
              <a:t> es </a:t>
            </a:r>
            <a:r>
              <a:rPr lang="es-ES" dirty="0" err="1"/>
              <a:t>Peguerinos</a:t>
            </a:r>
            <a:r>
              <a:rPr lang="es-ES" dirty="0"/>
              <a:t>. Si la consulta se ejecuta sobre la tabla de la Figura 1.2, el resultado constará</a:t>
            </a:r>
          </a:p>
          <a:p>
            <a:pPr marL="0" indent="0">
              <a:buNone/>
            </a:pPr>
            <a:r>
              <a:rPr lang="es-ES" dirty="0"/>
              <a:t>de dos filas, una con el nombre López y otra con el nombre Santos.</a:t>
            </a:r>
          </a:p>
          <a:p>
            <a:pPr marL="0" indent="0">
              <a:buNone/>
            </a:pPr>
            <a:r>
              <a:rPr lang="es-ES" dirty="0"/>
              <a:t>Las consultas pueden involucrar información de más de una tabla. 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608881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873FD-9CA2-7BD4-8B6B-ECC9C8C23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dirty="0"/>
              <a:t>El modelo entidad-relación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E5CF83-01E2-4F7E-ED28-0EB30E424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799"/>
            <a:ext cx="11372850" cy="488632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" sz="1200" b="1" dirty="0"/>
              <a:t>El modelo de datos entidad-relación (E-R) está basado en una percepción del mundo real que consiste en</a:t>
            </a:r>
          </a:p>
          <a:p>
            <a:pPr marL="0" indent="0">
              <a:buNone/>
            </a:pPr>
            <a:r>
              <a:rPr lang="es-ES" sz="1200" b="1" dirty="0"/>
              <a:t>un conjunto de objetos básicos, denominados entidades, y de las relaciones entre esos objetos. Una entidad</a:t>
            </a:r>
          </a:p>
          <a:p>
            <a:pPr marL="0" indent="0">
              <a:buNone/>
            </a:pPr>
            <a:r>
              <a:rPr lang="es-ES" sz="1200" b="1" dirty="0"/>
              <a:t>es una “cosa” u “objeto” del mundo real que es distinguible de otros objetos. Por ejemplo, cada persona</a:t>
            </a:r>
          </a:p>
          <a:p>
            <a:pPr marL="0" indent="0">
              <a:buNone/>
            </a:pPr>
            <a:r>
              <a:rPr lang="es-ES" sz="1200" b="1" dirty="0"/>
              <a:t>es una entidad, y las cuentas bancarias pueden considerarse entidades.</a:t>
            </a:r>
          </a:p>
          <a:p>
            <a:pPr marL="0" indent="0">
              <a:buNone/>
            </a:pPr>
            <a:r>
              <a:rPr lang="es-ES" sz="1200" b="1" dirty="0"/>
              <a:t>Las entidades se describen en las bases de datos mediante un conjunto de atributos. Por ejemplo,</a:t>
            </a:r>
          </a:p>
          <a:p>
            <a:pPr marL="0" indent="0">
              <a:buNone/>
            </a:pPr>
            <a:r>
              <a:rPr lang="es-ES" sz="1200" b="1" dirty="0"/>
              <a:t>los atributos </a:t>
            </a:r>
            <a:r>
              <a:rPr lang="es-ES" sz="1200" b="1" dirty="0" err="1"/>
              <a:t>número_cuenta</a:t>
            </a:r>
            <a:r>
              <a:rPr lang="es-ES" sz="1200" b="1" dirty="0"/>
              <a:t> y saldo pueden describir una cuenta concreta de un banco y constituyen</a:t>
            </a:r>
          </a:p>
          <a:p>
            <a:pPr marL="0" indent="0">
              <a:buNone/>
            </a:pPr>
            <a:r>
              <a:rPr lang="es-ES" sz="1200" b="1" dirty="0"/>
              <a:t>atributos del conjunto de entidades cuenta. Análogamente, los atributos </a:t>
            </a:r>
            <a:r>
              <a:rPr lang="es-ES" sz="1200" b="1" dirty="0" err="1"/>
              <a:t>nombre_cliente</a:t>
            </a:r>
            <a:r>
              <a:rPr lang="es-ES" sz="1200" b="1" dirty="0"/>
              <a:t>, </a:t>
            </a:r>
            <a:r>
              <a:rPr lang="es-ES" sz="1200" b="1" dirty="0" err="1"/>
              <a:t>calle_cliente</a:t>
            </a:r>
            <a:r>
              <a:rPr lang="es-ES" sz="1200" b="1" dirty="0"/>
              <a:t> y</a:t>
            </a:r>
          </a:p>
          <a:p>
            <a:pPr marL="0" indent="0">
              <a:buNone/>
            </a:pPr>
            <a:r>
              <a:rPr lang="es-ES" sz="1200" b="1" dirty="0" err="1"/>
              <a:t>ciudad_cliente</a:t>
            </a:r>
            <a:r>
              <a:rPr lang="es-ES" sz="1200" b="1" dirty="0"/>
              <a:t> pueden describir una entidad cliente.</a:t>
            </a:r>
          </a:p>
          <a:p>
            <a:pPr marL="0" indent="0">
              <a:buNone/>
            </a:pPr>
            <a:r>
              <a:rPr lang="es-ES" sz="1200" b="1" dirty="0"/>
              <a:t>Se usa un atributo extra, </a:t>
            </a:r>
            <a:r>
              <a:rPr lang="es-ES" sz="1200" b="1" dirty="0" err="1"/>
              <a:t>id_cliente</a:t>
            </a:r>
            <a:r>
              <a:rPr lang="es-ES" sz="1200" b="1" dirty="0"/>
              <a:t>, para identificar unívocamente a los clientes (dado que es posible</a:t>
            </a:r>
          </a:p>
          <a:p>
            <a:pPr marL="0" indent="0">
              <a:buNone/>
            </a:pPr>
            <a:r>
              <a:rPr lang="es-ES" sz="1200" b="1" dirty="0"/>
              <a:t>que haya dos clientes con el mismo nombre, calle y ciudad). Se debe asignar un identificador de </a:t>
            </a:r>
            <a:r>
              <a:rPr lang="es-ES" sz="1200" b="1" dirty="0" err="1"/>
              <a:t>clien</a:t>
            </a:r>
            <a:r>
              <a:rPr lang="es-ES" sz="1200" b="1" dirty="0"/>
              <a:t>-</a:t>
            </a:r>
          </a:p>
          <a:p>
            <a:pPr marL="0" indent="0">
              <a:buNone/>
            </a:pPr>
            <a:r>
              <a:rPr lang="es-ES" sz="1200" b="1" dirty="0"/>
              <a:t>te único a cada cliente. En Estados Unidos, muchas empresas usan el número de la seguridad social</a:t>
            </a:r>
          </a:p>
          <a:p>
            <a:pPr marL="0" indent="0">
              <a:buNone/>
            </a:pPr>
            <a:r>
              <a:rPr lang="es-ES" sz="1200" b="1" dirty="0"/>
              <a:t>de cada persona (un número único que el Gobierno de Estados Unidos asigna a cada persona) como</a:t>
            </a:r>
          </a:p>
          <a:p>
            <a:pPr marL="0" indent="0">
              <a:buNone/>
            </a:pPr>
            <a:r>
              <a:rPr lang="es-ES" sz="1200" b="1" dirty="0"/>
              <a:t>identificador de cliente.</a:t>
            </a:r>
          </a:p>
          <a:p>
            <a:pPr marL="0" indent="0">
              <a:buNone/>
            </a:pPr>
            <a:r>
              <a:rPr lang="es-ES" sz="1200" b="1" dirty="0"/>
              <a:t>Una relación es una asociación entre varias entidades. Por ejemplo, la relación impositor asocia un</a:t>
            </a:r>
          </a:p>
          <a:p>
            <a:pPr marL="0" indent="0">
              <a:buNone/>
            </a:pPr>
            <a:r>
              <a:rPr lang="es-ES" sz="1200" b="1" dirty="0"/>
              <a:t>cliente con cada cuenta que tiene. El conjunto de todas las entidades del mismo tipo, y el conjunto de</a:t>
            </a:r>
          </a:p>
          <a:p>
            <a:pPr marL="0" indent="0">
              <a:buNone/>
            </a:pPr>
            <a:r>
              <a:rPr lang="es-ES" sz="1200" b="1" dirty="0"/>
              <a:t>todas las relaciones del mismo tipo se denominan, respectivamente, conjunto de entidades y conjunto</a:t>
            </a:r>
          </a:p>
          <a:p>
            <a:pPr marL="0" indent="0">
              <a:buNone/>
            </a:pPr>
            <a:r>
              <a:rPr lang="es-ES" sz="1200" b="1" dirty="0"/>
              <a:t>de relaciones</a:t>
            </a:r>
            <a:endParaRPr lang="es-VE" sz="1200" b="1" dirty="0"/>
          </a:p>
        </p:txBody>
      </p:sp>
    </p:spTree>
    <p:extLst>
      <p:ext uri="{BB962C8B-B14F-4D97-AF65-F5344CB8AC3E}">
        <p14:creationId xmlns:p14="http://schemas.microsoft.com/office/powerpoint/2010/main" val="2349587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ECF6B2-C3F8-6B35-2218-F6CF7FFFBC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65872"/>
            <a:ext cx="10820400" cy="40241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/>
              <a:t>La estructura lógica general (esquema) de la base de datos se puede expresar gráficamente mediante</a:t>
            </a:r>
          </a:p>
          <a:p>
            <a:pPr marL="0" indent="0">
              <a:buNone/>
            </a:pPr>
            <a:r>
              <a:rPr lang="es-ES" dirty="0"/>
              <a:t>un diagrama E-R, que está constituido por los siguientes componentes:</a:t>
            </a:r>
          </a:p>
          <a:p>
            <a:pPr marL="0" indent="0">
              <a:buNone/>
            </a:pPr>
            <a:r>
              <a:rPr lang="es-ES" dirty="0"/>
              <a:t>• Rectángulos, que representan conjuntos de entidades.</a:t>
            </a:r>
          </a:p>
          <a:p>
            <a:pPr marL="0" indent="0">
              <a:buNone/>
            </a:pPr>
            <a:r>
              <a:rPr lang="es-ES" dirty="0"/>
              <a:t>• Elipses, que representan atributos.</a:t>
            </a:r>
          </a:p>
          <a:p>
            <a:pPr marL="0" indent="0">
              <a:buNone/>
            </a:pPr>
            <a:r>
              <a:rPr lang="es-ES" dirty="0"/>
              <a:t>• Rombos, que representan conjuntos de relaciones entre miembros de varios conjuntos de </a:t>
            </a:r>
            <a:r>
              <a:rPr lang="es-ES" dirty="0" err="1"/>
              <a:t>entida</a:t>
            </a:r>
            <a:r>
              <a:rPr lang="es-ES" dirty="0"/>
              <a:t>-</a:t>
            </a:r>
          </a:p>
          <a:p>
            <a:pPr marL="0" indent="0">
              <a:buNone/>
            </a:pPr>
            <a:r>
              <a:rPr lang="es-ES" dirty="0"/>
              <a:t>des.</a:t>
            </a:r>
          </a:p>
          <a:p>
            <a:pPr marL="0" indent="0">
              <a:buNone/>
            </a:pPr>
            <a:r>
              <a:rPr lang="es-ES" dirty="0"/>
              <a:t>• Líneas, que unen los atributos con los conjuntos de entidades entre sí, y también los conjuntos</a:t>
            </a:r>
          </a:p>
          <a:p>
            <a:pPr marL="0" indent="0">
              <a:buNone/>
            </a:pPr>
            <a:r>
              <a:rPr lang="es-ES" dirty="0"/>
              <a:t>de entidades con las relaciones.</a:t>
            </a:r>
          </a:p>
          <a:p>
            <a:pPr marL="0" indent="0">
              <a:buNone/>
            </a:pPr>
            <a:r>
              <a:rPr lang="es-ES" dirty="0"/>
              <a:t>Cada componente se etiqueta con la entidad o relación que representa.</a:t>
            </a:r>
          </a:p>
          <a:p>
            <a:pPr marL="0" indent="0">
              <a:buNone/>
            </a:pPr>
            <a:r>
              <a:rPr lang="es-ES" dirty="0"/>
              <a:t>Como ilustración, considérese parte de un sistema bancario de bases de datos consistente en los </a:t>
            </a:r>
            <a:r>
              <a:rPr lang="es-ES" dirty="0" err="1"/>
              <a:t>clien</a:t>
            </a:r>
            <a:r>
              <a:rPr lang="es-ES" dirty="0"/>
              <a:t>-</a:t>
            </a:r>
          </a:p>
          <a:p>
            <a:pPr marL="0" indent="0">
              <a:buNone/>
            </a:pPr>
            <a:r>
              <a:rPr lang="es-ES" dirty="0"/>
              <a:t>tes y las cuentas que tienen esos clientes. La Figura 1.3 muestra el diagrama E-R correspondiente. El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901129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615AB6C-61E2-A41A-86BE-3AD6BA373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2414588"/>
            <a:ext cx="5772150" cy="377905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687901E5-65CD-F728-20AE-8EDE13B3C048}"/>
              </a:ext>
            </a:extLst>
          </p:cNvPr>
          <p:cNvSpPr txBox="1"/>
          <p:nvPr/>
        </p:nvSpPr>
        <p:spPr>
          <a:xfrm>
            <a:off x="6096000" y="855732"/>
            <a:ext cx="60936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diagrama E-R indica que hay dos conjuntos de entidades, cliente y cuenta, con los atributos descritos</a:t>
            </a:r>
          </a:p>
          <a:p>
            <a:r>
              <a:rPr lang="es-ES" b="1" dirty="0"/>
              <a:t>anteriormente. El diagrama también muestra la relación impositor entre cliente y cuenta.</a:t>
            </a:r>
          </a:p>
          <a:p>
            <a:r>
              <a:rPr lang="es-ES" b="1" dirty="0"/>
              <a:t>Además de entidades y relaciones, el modelo E-R representa ciertas restricciones que los contenidos</a:t>
            </a:r>
          </a:p>
          <a:p>
            <a:r>
              <a:rPr lang="es-ES" b="1" dirty="0"/>
              <a:t>de la base de datos deben cumplir. Una restricción importante es la correspondencia de cardinalidades,</a:t>
            </a:r>
          </a:p>
          <a:p>
            <a:r>
              <a:rPr lang="es-ES" b="1" dirty="0"/>
              <a:t>que expresa el número de entidades con las que otra entidad se puede asociar a través de un conjunto</a:t>
            </a:r>
          </a:p>
          <a:p>
            <a:r>
              <a:rPr lang="es-ES" b="1" dirty="0"/>
              <a:t>de relaciones. Por ejemplo, si cada cuenta sólo debe pertenecer a un cliente, el modelo puede expresar</a:t>
            </a:r>
          </a:p>
          <a:p>
            <a:r>
              <a:rPr lang="es-ES" b="1" dirty="0"/>
              <a:t>esa restricción.</a:t>
            </a:r>
          </a:p>
          <a:p>
            <a:r>
              <a:rPr lang="es-ES" b="1" dirty="0"/>
              <a:t>El modelo entidad-relación se usa ampliamente en el diseño de bases de datos, y en el Capítulo 6 se</a:t>
            </a:r>
          </a:p>
          <a:p>
            <a:r>
              <a:rPr lang="es-ES" b="1" dirty="0"/>
              <a:t>explora en detalle.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2497436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9F5451-26C3-422C-D00C-3A4AD1D0A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VE" dirty="0"/>
              <a:t>Normalización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7301C1-DD81-1D4E-6345-99665E417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708785"/>
            <a:ext cx="10820400" cy="402412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dirty="0"/>
              <a:t>El objetivo es generar un conjunto de esquemas de relaciones que permita almacenar información sin</a:t>
            </a:r>
          </a:p>
          <a:p>
            <a:pPr marL="0" indent="0">
              <a:buNone/>
            </a:pPr>
            <a:r>
              <a:rPr lang="es-ES" dirty="0"/>
              <a:t>redundancias innecesarias, pero que también permita recuperar la información con facilidad. El enfoque</a:t>
            </a:r>
          </a:p>
          <a:p>
            <a:pPr marL="0" indent="0">
              <a:buNone/>
            </a:pPr>
            <a:r>
              <a:rPr lang="es-ES" dirty="0"/>
              <a:t>es diseñar esquemas que se hallen en la forma normal adecuada. Para determinar si un esquema de</a:t>
            </a:r>
          </a:p>
          <a:p>
            <a:pPr marL="0" indent="0">
              <a:buNone/>
            </a:pPr>
            <a:r>
              <a:rPr lang="es-ES" dirty="0"/>
              <a:t>relación se halla en una de las formas normales deseadas, hace falta información adicional sobre la</a:t>
            </a:r>
          </a:p>
          <a:p>
            <a:pPr marL="0" indent="0">
              <a:buNone/>
            </a:pPr>
            <a:r>
              <a:rPr lang="es-ES" dirty="0"/>
              <a:t>empresa real que se está modelando con la base de datos. El enfoque más frecuente es usar dependencias</a:t>
            </a:r>
          </a:p>
          <a:p>
            <a:pPr marL="0" indent="0">
              <a:buNone/>
            </a:pPr>
            <a:r>
              <a:rPr lang="es-ES" dirty="0"/>
              <a:t>funcionales, </a:t>
            </a:r>
            <a:endParaRPr lang="es-VE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DB6640B-CE87-D5F8-260A-140D05AEC168}"/>
              </a:ext>
            </a:extLst>
          </p:cNvPr>
          <p:cNvSpPr txBox="1"/>
          <p:nvPr/>
        </p:nvSpPr>
        <p:spPr>
          <a:xfrm>
            <a:off x="542925" y="5493462"/>
            <a:ext cx="121408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Para comprender la necesidad de la normalización, obsérvese lo que puede fallar en un mal diseño</a:t>
            </a:r>
          </a:p>
          <a:p>
            <a:r>
              <a:rPr lang="es-ES" b="1" dirty="0"/>
              <a:t>de base de datos. Algunas de las propiedades no deseables de un mal son:</a:t>
            </a:r>
          </a:p>
          <a:p>
            <a:r>
              <a:rPr lang="es-ES" b="1" dirty="0"/>
              <a:t>• Repetición de la información.</a:t>
            </a:r>
          </a:p>
          <a:p>
            <a:r>
              <a:rPr lang="es-ES" b="1" dirty="0"/>
              <a:t>• Imposibilidad de representar determinada </a:t>
            </a:r>
            <a:r>
              <a:rPr lang="es-ES" b="1" dirty="0" err="1"/>
              <a:t>informació</a:t>
            </a:r>
            <a:endParaRPr lang="es-VE" b="1" dirty="0"/>
          </a:p>
        </p:txBody>
      </p:sp>
    </p:spTree>
    <p:extLst>
      <p:ext uri="{BB962C8B-B14F-4D97-AF65-F5344CB8AC3E}">
        <p14:creationId xmlns:p14="http://schemas.microsoft.com/office/powerpoint/2010/main" val="2448972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FB2D-5155-596B-F6BE-22A7F381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/>
              <a:t>Primera Forma Normal (1NF)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11A501-3F4C-C3BB-8B64-58F70094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Cada columna debe contener valores </a:t>
            </a:r>
            <a:r>
              <a:rPr lang="es-ES" b="1" dirty="0"/>
              <a:t>atómicos</a:t>
            </a:r>
            <a:r>
              <a:rPr lang="es-ES" dirty="0"/>
              <a:t> (un solo valor por celda)</a:t>
            </a:r>
          </a:p>
          <a:p>
            <a:r>
              <a:rPr lang="es-ES" dirty="0"/>
              <a:t>No grupos repetitivos ni arreglos</a:t>
            </a:r>
          </a:p>
          <a:p>
            <a:r>
              <a:rPr lang="es-ES" dirty="0"/>
              <a:t>Cada fila debe ser única (clave primaria)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4117712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A812D1-A776-98BA-3E1C-21E8A6A16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/>
              <a:t>Segunda Forma Normal (2NF)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AC9B72-FD15-7C6C-6858-CF65B215F9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VE" dirty="0"/>
              <a:t>Estar en 1NF</a:t>
            </a:r>
          </a:p>
          <a:p>
            <a:r>
              <a:rPr lang="es-ES" dirty="0"/>
              <a:t>Eliminar </a:t>
            </a:r>
            <a:r>
              <a:rPr lang="es-ES" b="1" dirty="0"/>
              <a:t>dependencias parciales</a:t>
            </a:r>
            <a:r>
              <a:rPr lang="es-ES" dirty="0"/>
              <a:t> (atributos que dependen solo de una parte de la clave primaria compuesta)</a:t>
            </a:r>
            <a:endParaRPr lang="es-VE" dirty="0"/>
          </a:p>
        </p:txBody>
      </p:sp>
    </p:spTree>
    <p:extLst>
      <p:ext uri="{BB962C8B-B14F-4D97-AF65-F5344CB8AC3E}">
        <p14:creationId xmlns:p14="http://schemas.microsoft.com/office/powerpoint/2010/main" val="1122775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4CABE-CDDE-5275-DF23-77A3AB04B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VE" b="1" dirty="0"/>
              <a:t>Tercera Forma Normal (3NF)</a:t>
            </a:r>
            <a:br>
              <a:rPr lang="es-VE" b="1" dirty="0"/>
            </a:br>
            <a:endParaRPr lang="es-V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B2B000-AC01-5FBB-94B7-4823F24C6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VE" dirty="0" err="1"/>
              <a:t>star</a:t>
            </a:r>
            <a:r>
              <a:rPr lang="es-VE" dirty="0"/>
              <a:t> en 2NF</a:t>
            </a:r>
          </a:p>
          <a:p>
            <a:r>
              <a:rPr lang="es-VE" dirty="0"/>
              <a:t>Eliminar </a:t>
            </a:r>
            <a:r>
              <a:rPr lang="es-VE" b="1" dirty="0"/>
              <a:t>dependencias transitivas</a:t>
            </a:r>
            <a:r>
              <a:rPr lang="es-VE" dirty="0"/>
              <a:t> (atributos no clave que dependen de otro atributo no clave)</a:t>
            </a:r>
          </a:p>
        </p:txBody>
      </p:sp>
    </p:spTree>
    <p:extLst>
      <p:ext uri="{BB962C8B-B14F-4D97-AF65-F5344CB8AC3E}">
        <p14:creationId xmlns:p14="http://schemas.microsoft.com/office/powerpoint/2010/main" val="2827095738"/>
      </p:ext>
    </p:extLst>
  </p:cSld>
  <p:clrMapOvr>
    <a:masterClrMapping/>
  </p:clrMapOvr>
</p:sld>
</file>

<file path=ppt/theme/theme1.xml><?xml version="1.0" encoding="utf-8"?>
<a:theme xmlns:a="http://schemas.openxmlformats.org/drawingml/2006/main" name="Estela de condensación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Estela de condensación</Template>
  <TotalTime>48</TotalTime>
  <Words>1323</Words>
  <Application>Microsoft Office PowerPoint</Application>
  <PresentationFormat>Panorámica</PresentationFormat>
  <Paragraphs>91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Century Gothic</vt:lpstr>
      <vt:lpstr>Estela de condensación</vt:lpstr>
      <vt:lpstr>Bases de datos</vt:lpstr>
      <vt:lpstr>Bases de datos</vt:lpstr>
      <vt:lpstr>Aplicaciones de los sistemas de bases de datos</vt:lpstr>
      <vt:lpstr>Bases de datos relacionales</vt:lpstr>
      <vt:lpstr>Tablas</vt:lpstr>
      <vt:lpstr> Lenguaje de manipulación de datos</vt:lpstr>
      <vt:lpstr>El modelo entidad-relación</vt:lpstr>
      <vt:lpstr>Presentación de PowerPoint</vt:lpstr>
      <vt:lpstr>Presentación de PowerPoint</vt:lpstr>
      <vt:lpstr>Normalización</vt:lpstr>
      <vt:lpstr>Primera Forma Normal (1NF) </vt:lpstr>
      <vt:lpstr>Segunda Forma Normal (2NF) </vt:lpstr>
      <vt:lpstr>Tercera Forma Normal (3NF)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Bases de datos</dc:title>
  <dc:creator>juan alburgas</dc:creator>
  <cp:lastModifiedBy>juan alburgas</cp:lastModifiedBy>
  <cp:revision>6</cp:revision>
  <dcterms:created xsi:type="dcterms:W3CDTF">2026-05-25T18:51:53Z</dcterms:created>
  <dcterms:modified xsi:type="dcterms:W3CDTF">2026-05-25T19:40:01Z</dcterms:modified>
</cp:coreProperties>
</file>